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d75ad27d534343" /><Relationship Type="http://schemas.openxmlformats.org/officeDocument/2006/relationships/extended-properties" Target="/docProps/app.xml" Id="R4554a77c86c14807" /><Relationship Type="http://schemas.openxmlformats.org/officeDocument/2006/relationships/officeDocument" Target="/ppt/presentation.xml" Id="Rc87a502ec6d34e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57a6d3b2804ca4"/>
  </p:sldMasterIdLst>
  <p:notesMasterIdLst>
    <p:notesMasterId xmlns:r="http://schemas.openxmlformats.org/officeDocument/2006/relationships" r:id="R0ba3f30fbeb049c5"/>
  </p:notesMasterIdLst>
  <p:sldIdLst>
    <p:sldId xmlns:r="http://schemas.openxmlformats.org/officeDocument/2006/relationships" id="256" r:id="R971ca3552f26413c"/>
    <p:sldId xmlns:r="http://schemas.openxmlformats.org/officeDocument/2006/relationships" id="257" r:id="R7f92c5e1ce9b452a"/>
    <p:sldId xmlns:r="http://schemas.openxmlformats.org/officeDocument/2006/relationships" id="258" r:id="R326c3e800c374ae2"/>
    <p:sldId xmlns:r="http://schemas.openxmlformats.org/officeDocument/2006/relationships" id="259" r:id="R7fa46dd55c414b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0f4a598e7e4725" /><Relationship Type="http://schemas.openxmlformats.org/officeDocument/2006/relationships/slideMaster" Target="/ppt/slideMasters/slideMaster1.xml" Id="R2c57a6d3b2804ca4" /><Relationship Type="http://schemas.openxmlformats.org/officeDocument/2006/relationships/notesMaster" Target="/ppt/notesMasters/notesMaster1.xml" Id="R0ba3f30fbeb049c5" /><Relationship Type="http://schemas.openxmlformats.org/officeDocument/2006/relationships/presProps" Target="/ppt/presProps.xml" Id="Rcb8ae2725ccb4875" /><Relationship Type="http://schemas.openxmlformats.org/officeDocument/2006/relationships/tableStyles" Target="/ppt/tableStyles.xml" Id="R16a3664e08ae467c" /><Relationship Type="http://schemas.openxmlformats.org/officeDocument/2006/relationships/slide" Target="/ppt/slides/slide1.xml" Id="R971ca3552f26413c" /><Relationship Type="http://schemas.openxmlformats.org/officeDocument/2006/relationships/slide" Target="/ppt/slides/slide2.xml" Id="R7f92c5e1ce9b452a" /><Relationship Type="http://schemas.openxmlformats.org/officeDocument/2006/relationships/slide" Target="/ppt/slides/slide3.xml" Id="R326c3e800c374ae2" /><Relationship Type="http://schemas.openxmlformats.org/officeDocument/2006/relationships/slide" Target="/ppt/slides/slide4.xml" Id="R7fa46dd55c414b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40f3f2ced942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f1af4dfefe471b" /><Relationship Type="http://schemas.openxmlformats.org/officeDocument/2006/relationships/notesMaster" Target="/ppt/notesMasters/notesMaster1.xml" Id="R4991f26baabc46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9c3baffa9c4309" /><Relationship Type="http://schemas.openxmlformats.org/officeDocument/2006/relationships/notesMaster" Target="/ppt/notesMasters/notesMaster1.xml" Id="R718cdc9551aa4d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995b48dfb446d8" /><Relationship Type="http://schemas.openxmlformats.org/officeDocument/2006/relationships/notesMaster" Target="/ppt/notesMasters/notesMaster1.xml" Id="R03ff94e7229242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fbf2e3278242c7" /><Relationship Type="http://schemas.openxmlformats.org/officeDocument/2006/relationships/notesMaster" Target="/ppt/notesMasters/notesMaster1.xml" Id="Rd23e147431fa43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08cec0d5ba41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f68aaddbb74c8d" /><Relationship Type="http://schemas.openxmlformats.org/officeDocument/2006/relationships/slideLayout" Target="/ppt/slideLayouts/slideLayout1.xml" Id="R1bdd23f60c1549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dd23f60c1549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c540045944813" /><Relationship Type="http://schemas.openxmlformats.org/officeDocument/2006/relationships/image" Target="/ppt/media/image.png" Id="R2894113697ae4ee6" /><Relationship Type="http://schemas.openxmlformats.org/officeDocument/2006/relationships/image" Target="/ppt/media/image2.png" Id="R2b5123b6b2524b57" /><Relationship Type="http://schemas.openxmlformats.org/officeDocument/2006/relationships/image" Target="/ppt/media/image3.png" Id="R9333e458ca3d48fd" /><Relationship Type="http://schemas.openxmlformats.org/officeDocument/2006/relationships/notesSlide" Target="/ppt/notesSlides/notesSlide1.xml" Id="Rf79e440b485849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99f4ac3cd45f5" /><Relationship Type="http://schemas.openxmlformats.org/officeDocument/2006/relationships/image" Target="/ppt/media/image4.png" Id="R8785d85619ad4a0c" /><Relationship Type="http://schemas.openxmlformats.org/officeDocument/2006/relationships/notesSlide" Target="/ppt/notesSlides/notesSlide2.xml" Id="R930cc2d80e2840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6f1d7bfc6499c" /><Relationship Type="http://schemas.openxmlformats.org/officeDocument/2006/relationships/image" Target="/ppt/media/image.jpeg" Id="R35da9efa21d84b32" /><Relationship Type="http://schemas.openxmlformats.org/officeDocument/2006/relationships/notesSlide" Target="/ppt/notesSlides/notesSlide3.xml" Id="Rb1307de221bc4a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3b954a0554a84" /><Relationship Type="http://schemas.openxmlformats.org/officeDocument/2006/relationships/image" Target="/ppt/media/image5.png" Id="Reeb67ec1ad0d4ba6" /><Relationship Type="http://schemas.openxmlformats.org/officeDocument/2006/relationships/image" Target="/ppt/media/image6.png" Id="R701a09920d6f4d37" /><Relationship Type="http://schemas.openxmlformats.org/officeDocument/2006/relationships/notesSlide" Target="/ppt/notesSlides/notesSlide4.xml" Id="Rbd2c7c855e7a4c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rbon-weave-field">
            <a:extLst xmlns:a="http://schemas.openxmlformats.org/drawingml/2006/main">
              <a:ext uri="{FF2B5EF4-FFF2-40B4-BE49-F238E27FC236}">
                <a16:creationId xmlns:a16="http://schemas.microsoft.com/office/drawing/2014/main" id="{B5146972-BECA-4907-8E83-82ADC0EB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pattFill xmlns:a="http://schemas.openxmlformats.org/drawingml/2006/main" prst="diagCross">
            <a:fgClr>
              <a:srgbClr val="FFFFFF">
                <a:alpha val="3000"/>
              </a:srgbClr>
            </a:fgClr>
            <a:bgClr>
              <a:srgbClr val="0A0A0D"/>
            </a:bgClr>
          </a:patt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57F77-8A13-421D-B45B-5C7619BD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0"/>
            <a:ext cx="3143250" cy="6858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4A00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636BA-B1AC-4410-8F79-373D16BB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0"/>
            <a:ext cx="952500" cy="6858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>
              <a:alpha val="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80574-2B11-4973-81D4-7B707F18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048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A15C4-1CA8-4363-BE9B-1070604E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7048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F0BC6-7575-4CDE-99CB-4528CB41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048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52B2A-5BC1-45B0-8F7B-1085B796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048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737BA-D5CC-49C2-8CC8-66018C6C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048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895D7-3352-418E-AA2E-D815F14A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048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3FC66-AE93-4F5C-96E1-7137A566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048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AE0C8-B68E-4AE2-9FB0-F0B750F4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4113697ae4ee6"/>
          <a:stretch xmlns:a="http://schemas.openxmlformats.org/drawingml/2006/main"/>
        </p:blipFill>
        <p:spPr>
          <a:xfrm xmlns:a="http://schemas.openxmlformats.org/drawingml/2006/main">
            <a:off x="611669" y="409575"/>
            <a:ext cx="738813" cy="6191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49FC4-9B73-4824-B3BD-8752D9FA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52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SR SERIES // OFF-ROAD PLATFORM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72A92-6A07-4C75-88CC-98C7D610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5334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01 / 04</a:t>
            </a:r>
          </a:p>
        </p:txBody>
      </p:sp>
      <p:sp>
        <p:nvSpPr>
          <p:cNvPr id="15" name="hero-sr">
            <a:extLst xmlns:a="http://schemas.openxmlformats.org/drawingml/2006/main">
              <a:ext uri="{FF2B5EF4-FFF2-40B4-BE49-F238E27FC236}">
                <a16:creationId xmlns:a16="http://schemas.microsoft.com/office/drawing/2014/main" id="{DC5F95DD-4E2F-4071-9868-7B3C425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3525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99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99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SR</a:t>
            </a:r>
          </a:p>
        </p:txBody>
      </p:sp>
      <p:sp>
        <p:nvSpPr>
          <p:cNvPr id="16" name="hero-off-road">
            <a:extLst xmlns:a="http://schemas.openxmlformats.org/drawingml/2006/main">
              <a:ext uri="{FF2B5EF4-FFF2-40B4-BE49-F238E27FC236}">
                <a16:creationId xmlns:a16="http://schemas.microsoft.com/office/drawing/2014/main" id="{9CCF448E-F074-4909-9BF1-0F89E07F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4384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58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58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OFF ROAD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727C3-5686-437A-875A-7C96C961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429000"/>
            <a:ext cx="1733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6E932-72CD-4FE0-99DE-7CB4A28D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95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rPr>
              <a:t>POWER MEETS PRECISION.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A313F-8871-46A0-B885-1F16A495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05275"/>
            <a:ext cx="3829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Built for the wild — instant electric response, refined control and no compromise.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123b6b2524b57"/>
          <a:stretch xmlns:a="http://schemas.openxmlformats.org/drawingml/2006/main"/>
        </p:blipFill>
        <p:spPr>
          <a:xfrm xmlns:a="http://schemas.openxmlformats.org/drawingml/2006/main">
            <a:off x="5196308" y="1066800"/>
            <a:ext cx="5933234" cy="4972050"/>
          </a:xfrm>
          <a:prstGeom xmlns:a="http://schemas.openxmlformats.org/drawingml/2006/main" prst="rect">
            <a:avLst/>
          </a:prstGeom>
        </p:spPr>
      </p:pic>
      <p:sp>
        <p:nvSpPr>
          <p:cNvPr id="21" name="hero-hud-rail">
            <a:extLst xmlns:a="http://schemas.openxmlformats.org/drawingml/2006/main">
              <a:ext uri="{FF2B5EF4-FFF2-40B4-BE49-F238E27FC236}">
                <a16:creationId xmlns:a16="http://schemas.microsoft.com/office/drawing/2014/main" id="{6392F354-8F02-421A-885E-B904F2BD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372100"/>
            <a:ext cx="5676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D">
              <a:alpha val="90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4D6132-ACD1-433A-B132-175B4FF3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55054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36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48559-8A58-4E58-A401-2649C0EF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" y="56292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rPr>
              <a:t>KM/H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B69C6-4F2B-4605-952E-C9490329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5962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TOP SPEED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2A01B-36E0-403D-BA85-B981312D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34025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A715E3-334C-476D-A86A-FABEA756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55054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36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F92E06-DCD1-40AA-B5CD-D338053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56292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rPr>
              <a:t>KW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ABCE08-E1D0-4DE3-B206-113F7DAD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5962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PEAK POWER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0A83F2-4C80-4296-952D-7F40B938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534025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9E2650-1E5E-42D5-BF27-9D800A89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55054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7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80–120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4CE8A7-B7E4-4CD1-832B-2D85134E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56292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rPr>
              <a:t>KM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EF47A4-17DD-4C19-82B0-FE2E8C76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5962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RANGE*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A5E426-6920-4E18-A7B1-659CB720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6019800"/>
            <a:ext cx="41052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78 KG // PRIVATE PROPERTY + OFF-ROAD TRAILS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3e458ca3d48fd"/>
          <a:stretch xmlns:a="http://schemas.openxmlformats.org/drawingml/2006/main"/>
        </p:blipFill>
        <p:spPr>
          <a:xfrm xmlns:a="http://schemas.openxmlformats.org/drawingml/2006/main">
            <a:off x="10422773" y="6381750"/>
            <a:ext cx="1157205" cy="295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152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rbon-weave-field">
            <a:extLst xmlns:a="http://schemas.openxmlformats.org/drawingml/2006/main">
              <a:ext uri="{FF2B5EF4-FFF2-40B4-BE49-F238E27FC236}">
                <a16:creationId xmlns:a16="http://schemas.microsoft.com/office/drawing/2014/main" id="{CAAF916F-4A07-4EBF-9984-B9B71320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pattFill xmlns:a="http://schemas.openxmlformats.org/drawingml/2006/main" prst="diagCross">
            <a:fgClr>
              <a:srgbClr val="FFFFFF">
                <a:alpha val="2000"/>
              </a:srgbClr>
            </a:fgClr>
            <a:bgClr>
              <a:srgbClr val="0A0A0D"/>
            </a:bgClr>
          </a:pattFill>
          <a:ln xmlns:a="http://schemas.openxmlformats.org/drawingml/2006/main" w="0">
            <a:noFill/>
            <a:prstDash val="solid"/>
          </a:ln>
        </p:spPr>
      </p:sp>
      <p:sp>
        <p:nvSpPr>
          <p:cNvPr id="2" name="section-tag-02">
            <a:extLst xmlns:a="http://schemas.openxmlformats.org/drawingml/2006/main">
              <a:ext uri="{FF2B5EF4-FFF2-40B4-BE49-F238E27FC236}">
                <a16:creationId xmlns:a16="http://schemas.microsoft.com/office/drawing/2014/main" id="{CC9CA741-A798-4ABE-9687-45346C9B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9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-02">
            <a:extLst xmlns:a="http://schemas.openxmlformats.org/drawingml/2006/main">
              <a:ext uri="{FF2B5EF4-FFF2-40B4-BE49-F238E27FC236}">
                <a16:creationId xmlns:a16="http://schemas.microsoft.com/office/drawing/2014/main" id="{1D4505B4-0F94-4D2F-A267-08F26DE9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4" name="section-label-02">
            <a:extLst xmlns:a="http://schemas.openxmlformats.org/drawingml/2006/main">
              <a:ext uri="{FF2B5EF4-FFF2-40B4-BE49-F238E27FC236}">
                <a16:creationId xmlns:a16="http://schemas.microsoft.com/office/drawing/2014/main" id="{78E1E2F9-1D4C-4461-824D-34E1C1CD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428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TECH SPECS MATRIX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622B5-DEC5-403A-B3DD-2FE04F03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4381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02 / 04</a:t>
            </a:r>
          </a:p>
        </p:txBody>
      </p:sp>
      <p:sp>
        <p:nvSpPr>
          <p:cNvPr id="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A98AF781-B21C-4E22-8DBB-31ED5B1D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8382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46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PERFORMANCE // MEASURED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B831C-0433-4F79-B7EF-2427AEEC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002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A concentrated electric platform engineered around acceleration, range and responsive terrain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D31D7-83EE-4762-A3CF-DC0C2C99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866775"/>
            <a:ext cx="203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ED9E9-9600-45EA-B585-A4A2F7B0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3067050" cy="3067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D">
              <a:alpha val="70000"/>
            </a:srgbClr>
          </a:solidFill>
          <a:ln xmlns:a="http://schemas.openxmlformats.org/drawingml/2006/main" w="19050">
            <a:solidFill>
              <a:srgbClr val="FF4A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28200-1676-445B-A3DE-576A6223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52700"/>
            <a:ext cx="2705100" cy="2705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12BE1-CB35-44FF-9208-93D03168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512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419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BFE9E-0318-41E3-A772-78A9810B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164211" y="2812036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E6615-7880-45B7-8A86-1E979C71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90000">
            <a:off x="1429728" y="2602719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FD24B-43DC-40DD-BF23-E1EF3B6B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1736774" y="2461169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5A403-5665-4595-A542-2AEBE19F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">
            <a:off x="2068379" y="2395209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BEAA4-FE97-4903-A306-85EA0E57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">
            <a:off x="2406221" y="2408483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DCAAF-2018-4BEC-8948-200E7DC7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50000">
            <a:off x="2731629" y="2500257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76EF1-BEE9-47D1-AE39-2697EEAE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60000">
            <a:off x="3026622" y="2665461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F6055-A627-46ED-B9B1-698FEAE7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0000">
            <a:off x="3274898" y="2894965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00B41-5F59-44F3-832F-D36BB75B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80000">
            <a:off x="3462737" y="3176087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CC117-595A-440D-9B23-52E48A6C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90000">
            <a:off x="3579760" y="3493291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D7C1E6-7B36-4E38-AA86-5CD4AF9D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19500" y="382905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6B7E5-F107-4E64-96F4-8C03915B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10000">
            <a:off x="3579760" y="4164809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2F898-5CCA-45A4-8304-3C283755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20000">
            <a:off x="3462737" y="4482013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66E90-FA95-432C-B494-CB8BF6F2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30000">
            <a:off x="3274898" y="4763135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FB75A-59F1-415E-8607-3D61763E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640000">
            <a:off x="3026622" y="4992639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A1EFA9-813B-4212-AABB-F381A950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50000">
            <a:off x="2731629" y="5157843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C332ED-26BE-4A24-9943-BA7B37B1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260000">
            <a:off x="2406221" y="5249617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8E467F-58FB-4666-9B80-08A9E170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070000">
            <a:off x="2068379" y="5262891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0A9B82-C8CF-4A40-8261-7595C9B6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880000">
            <a:off x="1736774" y="5196931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3A6C96-7594-40CE-9787-C93CE684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90000">
            <a:off x="1429728" y="5055381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8C68B6-1609-42C9-9CEB-61A75090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3371850"/>
            <a:ext cx="1847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58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58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03.0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3B31F8-BD59-418B-A780-D3F30161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4133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rPr>
              <a:t>SECONDS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AF14F7-CD9E-438A-9DF6-C8D5D1A5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4862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0–50 KM/H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3AC014-4F96-40D4-BF3D-1A6C4513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48958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INSTANT ELECTRIC RESPONSE</a:t>
            </a:r>
          </a:p>
        </p:txBody>
      </p:sp>
      <p:sp>
        <p:nvSpPr>
          <p:cNvPr id="36" name="metric-01">
            <a:extLst xmlns:a="http://schemas.openxmlformats.org/drawingml/2006/main">
              <a:ext uri="{FF2B5EF4-FFF2-40B4-BE49-F238E27FC236}">
                <a16:creationId xmlns:a16="http://schemas.microsoft.com/office/drawing/2014/main" id="{EFA8137C-DB8F-4475-AE5F-8499F029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343150"/>
            <a:ext cx="17811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9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84B2F9-E969-4D43-AA0B-9B0BAB31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343150"/>
            <a:ext cx="38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B2903F-02EC-4123-A3B5-CA8C4A1D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14600"/>
            <a:ext cx="257175" cy="2571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5AAB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8875EB-CE33-4808-82CC-4E782200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20000">
            <a:off x="4388072" y="2581466"/>
            <a:ext cx="1905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C0D4CE-3104-4CC5-8F18-A204A88C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0357" y="2627757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35FCF6-811C-48CF-893C-EDE805CE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25146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6CD8B9-7E3C-4ACA-A5B7-9ECAC5B9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2924175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75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851990-5713-4327-934B-B5C550AA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3448050"/>
            <a:ext cx="1438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KM/H TOP SPEED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5CBDFF-4633-425F-9C35-A7BEBC3B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368617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VERIFIED MAXIMUM</a:t>
            </a:r>
          </a:p>
        </p:txBody>
      </p:sp>
      <p:sp>
        <p:nvSpPr>
          <p:cNvPr id="45" name="metric-02">
            <a:extLst xmlns:a="http://schemas.openxmlformats.org/drawingml/2006/main">
              <a:ext uri="{FF2B5EF4-FFF2-40B4-BE49-F238E27FC236}">
                <a16:creationId xmlns:a16="http://schemas.microsoft.com/office/drawing/2014/main" id="{2C2B81F1-82C4-434E-BF29-CC1978C3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2343150"/>
            <a:ext cx="17811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9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1BF1D7-A6CB-4E5E-B524-F91BF913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2343150"/>
            <a:ext cx="38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564D23-26E5-4E47-A271-306DDB45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514600"/>
            <a:ext cx="257175" cy="257175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5AAB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93ADDF-44C7-4D65-99CF-7F62CCAB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575" y="2552700"/>
            <a:ext cx="257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defRPr>
            </a:pPr>
            <a:r>
              <a:rPr sz="127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rPr>
              <a:t>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414C0C-997F-424A-A54E-63479BFD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25146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D3DF27-DAC9-4161-8EC2-F4B48722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575" y="2924175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8.0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C2EF29-38DD-4294-8451-B7B1719A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575" y="3448050"/>
            <a:ext cx="1438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KW PEAK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335AFC-3FC6-42FC-9D92-DBFF362C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575" y="368617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ELECTRIC DRIVE</a:t>
            </a:r>
          </a:p>
        </p:txBody>
      </p:sp>
      <p:sp>
        <p:nvSpPr>
          <p:cNvPr id="53" name="metric-03">
            <a:extLst xmlns:a="http://schemas.openxmlformats.org/drawingml/2006/main">
              <a:ext uri="{FF2B5EF4-FFF2-40B4-BE49-F238E27FC236}">
                <a16:creationId xmlns:a16="http://schemas.microsoft.com/office/drawing/2014/main" id="{397DD6E5-BF91-44A5-B846-09E19BDF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2343150"/>
            <a:ext cx="17811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9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1B3E92-020C-429F-9E11-AC02F87D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2343150"/>
            <a:ext cx="38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97D969-D723-4BF6-959A-5CC49EE6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4763">
            <a:solidFill>
              <a:srgbClr val="FF4A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22E6629-F902-4E3D-AAAA-42BAA27F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33675"/>
            <a:ext cx="85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5AAB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BC3941-59BD-450E-9741-BA237D0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8127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5AAB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FB09E1-25AC-452B-8B64-ED7F94C0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81275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5AAB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369C9D-EAE9-4EF6-B485-13D69C46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002EE7-3A78-4637-BC47-C94D69E8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25146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9FADA6-DD9B-4F64-9F1F-01B6522B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2924175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80–120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BBB6C1-4ED1-406D-B36B-A566CF81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3448050"/>
            <a:ext cx="1438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KM RANGE*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18BF71E-8850-4E2F-B5F0-006088A1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368617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TERRAIN DEPENDENT</a:t>
            </a:r>
          </a:p>
        </p:txBody>
      </p:sp>
      <p:sp>
        <p:nvSpPr>
          <p:cNvPr id="64" name="metric-04">
            <a:extLst xmlns:a="http://schemas.openxmlformats.org/drawingml/2006/main">
              <a:ext uri="{FF2B5EF4-FFF2-40B4-BE49-F238E27FC236}">
                <a16:creationId xmlns:a16="http://schemas.microsoft.com/office/drawing/2014/main" id="{2DCEF3F6-3240-4FAB-8D60-C0978E91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875" y="2343150"/>
            <a:ext cx="17811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9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A11486D-30C8-4770-A1CF-C89E4E4D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875" y="2343150"/>
            <a:ext cx="38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3C2FF32-40CB-4C47-BCE0-B3F2725F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9325" y="2562225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5AAB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BD909F5-1DF8-4967-BA70-DC10C9D7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2619375"/>
            <a:ext cx="38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A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E2B3315-3D74-4503-AC10-0EBDE5C7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260985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B33A998-A115-4A4E-BA1C-6BAFD1C8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3625" y="260985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E96B0A2-F052-46A3-B448-1874C771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25146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C9200EF-510D-440A-8B00-D8661383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9325" y="2924175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7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7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72V / 40AH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B397D15-D261-4425-82E7-619520B1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9325" y="3448050"/>
            <a:ext cx="1438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SAMSUNG LITHIUM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8D5A2A-C79C-426E-A6EB-7AF0B0DD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9325" y="368617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REPLACEABLE PACK</a:t>
            </a:r>
          </a:p>
        </p:txBody>
      </p:sp>
      <p:sp>
        <p:nvSpPr>
          <p:cNvPr id="74" name="metric-05">
            <a:extLst xmlns:a="http://schemas.openxmlformats.org/drawingml/2006/main">
              <a:ext uri="{FF2B5EF4-FFF2-40B4-BE49-F238E27FC236}">
                <a16:creationId xmlns:a16="http://schemas.microsoft.com/office/drawing/2014/main" id="{DEE859CB-E72A-4821-8D6C-C54F5390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4095750"/>
            <a:ext cx="17811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9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08CEBB1-19FE-477B-BE3A-F677FB7C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4095750"/>
            <a:ext cx="38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B50B681-354A-4319-A78A-6A7C6B95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42481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defRPr>
            </a:pPr>
            <a:r>
              <a:rPr sz="232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rPr>
              <a:t>↯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9358F7B-5DBF-4F68-81A4-F470F472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4267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0ECD02-EA47-4563-85E9-EC2E319D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4676775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2 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F0CF512-A74E-4314-98BA-F480FBF0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5200650"/>
            <a:ext cx="1438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20–90% CHARGE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D01A965-5A95-4B92-8D7B-FDFDCA0F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543877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CHARGE WINDOW</a:t>
            </a:r>
          </a:p>
        </p:txBody>
      </p:sp>
      <p:sp>
        <p:nvSpPr>
          <p:cNvPr id="81" name="metric-06">
            <a:extLst xmlns:a="http://schemas.openxmlformats.org/drawingml/2006/main">
              <a:ext uri="{FF2B5EF4-FFF2-40B4-BE49-F238E27FC236}">
                <a16:creationId xmlns:a16="http://schemas.microsoft.com/office/drawing/2014/main" id="{03D5FA6C-9C63-4CB8-9F9C-13120C93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4095750"/>
            <a:ext cx="17811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9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BA1DB8-DC3E-4DCE-A171-DCB1DF8E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4095750"/>
            <a:ext cx="38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B1AC668-8997-42E7-B760-E10A2C28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267200"/>
            <a:ext cx="257175" cy="2571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5AAB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34C09FE-124A-46FA-A84E-497719EA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873" y="4367498"/>
            <a:ext cx="56579" cy="565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4763">
            <a:solidFill>
              <a:srgbClr val="FF4A0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F797344-31CF-4C7D-BF31-8B8B4768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395788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AB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314A938-6104-4E01-89F3-3D8CE1B1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63" y="430530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AB3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6EE5236-C68C-4FA3-899E-323BF56A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4267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FC1AD5E-BA60-438B-BABF-C4B7321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575" y="4676775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19 / 18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3869BB7-D381-43AA-A8D0-99408B8C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575" y="5200650"/>
            <a:ext cx="1438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IN FRONT / REAR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9A09CD2-6D9A-4508-8F9F-E27D330E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575" y="543877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OFF-ROAD STANCE</a:t>
            </a:r>
          </a:p>
        </p:txBody>
      </p:sp>
      <p:sp>
        <p:nvSpPr>
          <p:cNvPr id="91" name="metric-07">
            <a:extLst xmlns:a="http://schemas.openxmlformats.org/drawingml/2006/main">
              <a:ext uri="{FF2B5EF4-FFF2-40B4-BE49-F238E27FC236}">
                <a16:creationId xmlns:a16="http://schemas.microsoft.com/office/drawing/2014/main" id="{9D52342E-B08F-47F4-B1B3-7B8C2CAB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4095750"/>
            <a:ext cx="17811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9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6333020-06C0-4041-810C-C1E08BA2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4095750"/>
            <a:ext cx="38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7FC079C-E428-4339-B6AA-DDF4CE29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4314825"/>
            <a:ext cx="257175" cy="209550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5AAB3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B4A88A8-A520-4900-B701-E03C54A1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4362450"/>
            <a:ext cx="257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rPr>
              <a:t>KG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F16F28A-67F8-4C73-A90E-6C67397A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4267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1808FBD-9877-432B-8726-C4761542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4676775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78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EFE0715-33C5-4BE9-8445-F28C9769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5200650"/>
            <a:ext cx="1438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KG WEIGHT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5CD5BF4-6C5B-4104-AA89-AA43999F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543877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PLATFORM MASS</a:t>
            </a:r>
          </a:p>
        </p:txBody>
      </p:sp>
      <p:sp>
        <p:nvSpPr>
          <p:cNvPr id="99" name="metric-08">
            <a:extLst xmlns:a="http://schemas.openxmlformats.org/drawingml/2006/main">
              <a:ext uri="{FF2B5EF4-FFF2-40B4-BE49-F238E27FC236}">
                <a16:creationId xmlns:a16="http://schemas.microsoft.com/office/drawing/2014/main" id="{EC9897D7-3B01-4987-8488-15026013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875" y="4095750"/>
            <a:ext cx="17811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9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91FF947-F63F-4940-8E0A-7E8986FC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875" y="4095750"/>
            <a:ext cx="38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86BBD11-6F7E-4704-AFEE-FCDB267D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67200"/>
            <a:ext cx="257175" cy="2571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5AAB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CBAEE76-8247-4A4F-8D32-72AAEE31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7913" y="432435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4A0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A4B0B45-F089-490F-BC9D-ABE85F4E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7913" y="4395788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4A0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8918EFC-50B6-4D99-95C8-8CF72637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7052" y="4238625"/>
            <a:ext cx="617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A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C3E911A-0F26-489F-B9EB-2B518C82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4267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4A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15EE368-BABF-4480-B084-067964EE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9325" y="4676775"/>
            <a:ext cx="1438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REGEN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E9A7D7A-A0A1-43E8-8D10-463E90FA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9325" y="5200650"/>
            <a:ext cx="1438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BRAKING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7948E1F-2268-48A9-83FE-FF639525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9325" y="543877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ENERGY RECOVERY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59E2383-7308-4E4A-84EE-B9348ADE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008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* Range varies with terrain, rider weight and riding style.</a:t>
            </a:r>
          </a:p>
        </p:txBody>
      </p:sp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5d85619ad4a0c"/>
          <a:stretch xmlns:a="http://schemas.openxmlformats.org/drawingml/2006/main"/>
        </p:blipFill>
        <p:spPr>
          <a:xfrm xmlns:a="http://schemas.openxmlformats.org/drawingml/2006/main">
            <a:off x="10422773" y="6381750"/>
            <a:ext cx="1157205" cy="295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1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a9efa21d84b32"/>
          <a:srcRect xmlns:a="http://schemas.openxmlformats.org/drawingml/2006/main" l="1447" t="0" r="1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0"/>
            <a:ext cx="7943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EBC37-A2F8-4731-ABA6-109C78C2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0"/>
            <a:ext cx="4286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A0D"/>
              </a:gs>
              <a:gs pos="42000">
                <a:srgbClr val="0A0A0D">
                  <a:alpha val="82000"/>
                </a:srgbClr>
              </a:gs>
              <a:gs pos="100000">
                <a:srgbClr val="0A0A0D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carbon-weave-field">
            <a:extLst xmlns:a="http://schemas.openxmlformats.org/drawingml/2006/main">
              <a:ext uri="{FF2B5EF4-FFF2-40B4-BE49-F238E27FC236}">
                <a16:creationId xmlns:a16="http://schemas.microsoft.com/office/drawing/2014/main" id="{687BE08D-2957-4908-8247-EC7C69FC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4191000" cy="6858000"/>
          </a:xfrm>
          <a:prstGeom xmlns:a="http://schemas.openxmlformats.org/drawingml/2006/main" prst="rect">
            <a:avLst/>
          </a:prstGeom>
          <a:pattFill xmlns:a="http://schemas.openxmlformats.org/drawingml/2006/main" prst="diagCross">
            <a:fgClr>
              <a:srgbClr val="FFFFFF">
                <a:alpha val="3000"/>
              </a:srgbClr>
            </a:fgClr>
            <a:bgClr>
              <a:srgbClr val="0A0A0D"/>
            </a:bgClr>
          </a:patt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2A4A2-1A73-4B60-817D-3E5D7AD3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tag-03">
            <a:extLst xmlns:a="http://schemas.openxmlformats.org/drawingml/2006/main">
              <a:ext uri="{FF2B5EF4-FFF2-40B4-BE49-F238E27FC236}">
                <a16:creationId xmlns:a16="http://schemas.microsoft.com/office/drawing/2014/main" id="{3A33CD60-EDC2-4417-9295-61050677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9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number-03">
            <a:extLst xmlns:a="http://schemas.openxmlformats.org/drawingml/2006/main">
              <a:ext uri="{FF2B5EF4-FFF2-40B4-BE49-F238E27FC236}">
                <a16:creationId xmlns:a16="http://schemas.microsoft.com/office/drawing/2014/main" id="{528CD4EC-6926-4C80-BD0D-6CA2D127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7" name="section-label-03">
            <a:extLst xmlns:a="http://schemas.openxmlformats.org/drawingml/2006/main">
              <a:ext uri="{FF2B5EF4-FFF2-40B4-BE49-F238E27FC236}">
                <a16:creationId xmlns:a16="http://schemas.microsoft.com/office/drawing/2014/main" id="{766C9BA2-B3BE-4695-ACB0-A1FDB04E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428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AERODYNAMICS / DESIGN 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31C74-9AE6-4110-9EB8-BB165355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4381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03 / 04</a:t>
            </a:r>
          </a:p>
        </p:txBody>
      </p:sp>
      <p:sp>
        <p:nvSpPr>
          <p:cNvPr id="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267A457-F99C-46DC-A6B1-C99AAFAA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866775"/>
            <a:ext cx="590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45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57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FORM // FOLLOWS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CF5F5-756F-4361-B97B-B76CA015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095500"/>
            <a:ext cx="3562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A purposeful off-road silhouette shaped around rider connection, responsive handling and serious terrain capability.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19989-45E9-4F1A-8F0D-3E5F7B1D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124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defRPr>
            </a:pPr>
            <a:r>
              <a:rPr sz="127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B15FC-CBDD-4CD3-9668-E99BB085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4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3AE76-3CF6-4B91-A87F-C7E2BA11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1146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BALANCED ERGONOMICS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B741F-4B5B-49DD-99F2-25A557B7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813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Keeps the rider connected and in control.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807B0-F4F2-4366-B8E0-C1DA3D7D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defRPr>
            </a:pPr>
            <a:r>
              <a:rPr sz="127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F7FF5-0F05-4FFD-9504-C5AF30E8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338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4A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5A8D7-D1FA-4BAE-8F53-D516151C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8385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RUGGED FRAME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B2797-A1F3-4528-9648-3A8A64C7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1052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Purpose-built for demanding off-road use.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8ABCE-2401-4163-B589-AAEA6BAE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defRPr>
            </a:pPr>
            <a:r>
              <a:rPr sz="127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26CEB-7FB4-4046-9DCA-FCBAC89F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4A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1E0DA4-6A16-4E64-A996-1160B64C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5624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 ACE SUSPENSION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726F46-BC56-44B0-8492-415ED731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829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Adjustable sport setup for changing terrain.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3D835-C4D7-4760-BE7B-10E21154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295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defRPr>
            </a:pPr>
            <a:r>
              <a:rPr sz="127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3B4C23-A141-4939-AD94-799B598A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816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4A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95466E-1272-4F80-8D7B-B36843C7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863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19 / 18 IN STANCE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3F3F2D-E277-415E-80C9-B5BA0624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5530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Dedicated front and rear off-road format.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7EDB3B-A6C6-4A4D-9BBD-0A7BC008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D">
              <a:alpha val="84000"/>
            </a:srgbClr>
          </a:solidFill>
          <a:ln xmlns:a="http://schemas.openxmlformats.org/drawingml/2006/main" w="14288">
            <a:solidFill>
              <a:srgbClr val="FF4A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86781-8461-45E1-9DD6-AB5D97CA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26955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1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EB2719-E7C1-4F34-BD34-D8EA7E6A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908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4A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EE8080-5731-4299-B84E-622BAAB3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D">
              <a:alpha val="84000"/>
            </a:srgbClr>
          </a:solidFill>
          <a:ln xmlns:a="http://schemas.openxmlformats.org/drawingml/2006/main" w="14288">
            <a:solidFill>
              <a:srgbClr val="FF4A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7CB4CF-8640-47A8-AF73-8B687802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3867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1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85F5EA-D04D-409A-9044-763578EE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9624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4A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4E269C-47DE-4442-8F0D-29B157B7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95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D">
              <a:alpha val="84000"/>
            </a:srgbClr>
          </a:solidFill>
          <a:ln xmlns:a="http://schemas.openxmlformats.org/drawingml/2006/main" w="14288">
            <a:solidFill>
              <a:srgbClr val="FF4A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D79302-7C22-487D-B107-3E239DAA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33623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1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B16647-083B-486A-B7C3-17B84B52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575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4A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51329E-48B0-4F31-865B-AFEE8692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429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D">
              <a:alpha val="84000"/>
            </a:srgbClr>
          </a:solidFill>
          <a:ln xmlns:a="http://schemas.openxmlformats.org/drawingml/2006/main" w="14288">
            <a:solidFill>
              <a:srgbClr val="FF4A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ADB5E5-609D-4776-A3DE-C5909DA4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3150" y="5495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125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14D782-92B0-4609-892B-C4928F99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911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4A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76AD27-81AC-44F5-8D7B-2EEFBA43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EA8CB5-52DA-4C30-AAC8-C278E8F5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26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D14AE7-768D-49B5-ADE3-A6E993E6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484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DIRT TRAILS // OPEN TERRAIN // TECHNICAL CLIMBS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858878-7BE3-4BE9-965A-9FD8B43F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6467475"/>
            <a:ext cx="398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CONTROL-LED DESIGN // NO UNVERIFIED AERO CLAIMS</a:t>
            </a:r>
          </a:p>
        </p:txBody>
      </p:sp>
    </p:spTree>
    <p:extLst>
      <p:ext uri="{BB962C8B-B14F-4D97-AF65-F5344CB8AC3E}">
        <p14:creationId xmlns:p14="http://schemas.microsoft.com/office/powerpoint/2010/main" val="9236858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67ec1ad0d4ba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A5EC9-30BC-4203-A689-C4EEA0E6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24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A0D"/>
              </a:gs>
              <a:gs pos="58000">
                <a:srgbClr val="0A0A0D">
                  <a:alpha val="94000"/>
                </a:srgbClr>
              </a:gs>
              <a:gs pos="100000">
                <a:srgbClr val="0A0A0D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367E6-E909-447B-8AD9-1BEA5F89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tag-04">
            <a:extLst xmlns:a="http://schemas.openxmlformats.org/drawingml/2006/main">
              <a:ext uri="{FF2B5EF4-FFF2-40B4-BE49-F238E27FC236}">
                <a16:creationId xmlns:a16="http://schemas.microsoft.com/office/drawing/2014/main" id="{0B03C307-9939-4D33-893E-34F8EE96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9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number-04">
            <a:extLst xmlns:a="http://schemas.openxmlformats.org/drawingml/2006/main">
              <a:ext uri="{FF2B5EF4-FFF2-40B4-BE49-F238E27FC236}">
                <a16:creationId xmlns:a16="http://schemas.microsoft.com/office/drawing/2014/main" id="{B4180B4B-3D44-4D1C-9ADC-1E2AAC66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120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6" name="section-label-04">
            <a:extLst xmlns:a="http://schemas.openxmlformats.org/drawingml/2006/main">
              <a:ext uri="{FF2B5EF4-FFF2-40B4-BE49-F238E27FC236}">
                <a16:creationId xmlns:a16="http://schemas.microsoft.com/office/drawing/2014/main" id="{882860B1-209F-4D23-9792-8599BEB4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428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INSIDE THE MACHINE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8E04B-E900-4F7D-BC24-DD14D781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4381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04 / 04</a:t>
            </a:r>
          </a:p>
        </p:txBody>
      </p:sp>
      <p:sp>
        <p:nvSpPr>
          <p:cNvPr id="8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9651FEA9-3176-4329-A78E-88CDAEBE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85725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46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INSIDE // THE MACHINE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A0131-DAA9-4D6A-B653-4334D9F8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764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Four integrated systems translate stored energy into sustained, controllable performance.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8326E-4B1A-424B-AC37-8623C2C6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505075"/>
            <a:ext cx="4438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D">
              <a:alpha val="72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A325A-DF2D-427B-B43D-7306F344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505075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7EC54-95BC-4048-8B44-3755F4FD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619375"/>
            <a:ext cx="361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defRPr>
            </a:pPr>
            <a:r>
              <a:rPr sz="112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3A611-960D-498C-BEE4-963E8A7D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2600325"/>
            <a:ext cx="1095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ENERGY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D0D0C-C2A0-4603-A7E8-4BF7A6CA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25717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2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2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72V / 40AH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78439-F36D-481A-A37D-5F35AF9F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2905125"/>
            <a:ext cx="360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Samsung replaceable lithium battery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0206C-64BC-4F33-8F73-D891262C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324225"/>
            <a:ext cx="4438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D">
              <a:alpha val="72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53ACF-01F0-40D8-84E0-9199ED40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324225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93EC2-BF53-4309-895F-588620F0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438525"/>
            <a:ext cx="361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defRPr>
            </a:pPr>
            <a:r>
              <a:rPr sz="112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2143E-54C0-4A5D-A3A5-AE7A69BE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3419475"/>
            <a:ext cx="1095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DRIVE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7A3B4-47E9-4703-B731-8C4C8AAA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33909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2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2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8 KW PEAK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48D73-025B-439A-BEA2-4642403C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3724275"/>
            <a:ext cx="360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Powertrain designed for sustained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65DB3-FBC1-48B2-8531-400774C3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43375"/>
            <a:ext cx="4438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D">
              <a:alpha val="72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7C8B9-3FCC-494C-9412-D844BE1D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43375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C702D0-3B54-42F5-9510-19BBFE49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257675"/>
            <a:ext cx="361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defRPr>
            </a:pPr>
            <a:r>
              <a:rPr sz="112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C598A7-A92E-4A88-8C1A-B92DFD07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4238625"/>
            <a:ext cx="1095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C40B1-1494-4674-8245-8DE97010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42100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2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2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FAST 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60CECF-B2BA-4F25-A11D-D21304A5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4543425"/>
            <a:ext cx="360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Adjustable suspension + balanced ergonomics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778DF0-0A75-428A-B139-10C17F15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962525"/>
            <a:ext cx="4438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D">
              <a:alpha val="72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2B529E-3FEB-4210-8DD3-02A9B55B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962525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13D120-6CF2-4BBD-98E7-08A47F9A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5076825"/>
            <a:ext cx="361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defRPr>
            </a:pPr>
            <a:r>
              <a:rPr sz="1125" b="1" i="0">
                <a:solidFill>
                  <a:srgbClr val="FF4A00"/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4081A0-0626-4BC8-937A-3F6CC9B1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5057775"/>
            <a:ext cx="1095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E5AC0C-A42E-4F62-ABB8-C112EFD3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50292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2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defRPr>
            </a:pPr>
            <a:r>
              <a:rPr sz="2250" b="1" i="0">
                <a:solidFill>
                  <a:srgbClr val="FFFFFF"/>
                </a:solidFill>
                <a:latin typeface="DIN Condensed"/>
                <a:ea typeface="DIN Condensed"/>
                <a:cs typeface="DIN Condensed"/>
              </a:rPr>
              <a:t>REGEN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062DE3-B5C4-418F-922C-40B88D18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5362575"/>
            <a:ext cx="360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37985"/>
                </a:solidFill>
                <a:latin typeface="Helvetica Neue"/>
                <a:ea typeface="Helvetica Neue"/>
                <a:cs typeface="Helvetica Neue"/>
              </a:rPr>
              <a:t>Regenerative braking architecture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898232-22D5-4AA5-BD4D-12C47C9D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0400" y="742950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D">
              <a:alpha val="76000"/>
            </a:srgbClr>
          </a:solidFill>
          <a:ln xmlns:a="http://schemas.openxmlformats.org/drawingml/2006/main" w="9525">
            <a:solidFill>
              <a:srgbClr val="FF4A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03818F-8541-41DF-9027-B716436F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866775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A5AAB3"/>
                </a:solidFill>
                <a:latin typeface="Helvetica Neue"/>
                <a:ea typeface="Helvetica Neue"/>
                <a:cs typeface="Helvetica Neue"/>
              </a:rPr>
              <a:t>CONCEPTUAL SYSTEM VISUAL // VERIFIED DATA AT LEFT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9225DC-0265-4D78-B6C4-99732FC3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B9666B-71CC-4995-A426-ED116D00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267450"/>
            <a:ext cx="619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A3DC53-B541-4CB3-878D-63AD1779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579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INSTANT RESPONSE. SUSTAINED OUTPUT. TERRAIN-READY CONTROL.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a09920d6f4d37"/>
          <a:stretch xmlns:a="http://schemas.openxmlformats.org/drawingml/2006/main"/>
        </p:blipFill>
        <p:spPr>
          <a:xfrm xmlns:a="http://schemas.openxmlformats.org/drawingml/2006/main">
            <a:off x="10422773" y="6419850"/>
            <a:ext cx="1157205" cy="295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1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2026-07-17T08:42:49.4640000Z</dcterms:created>
  <dcterms:modified xsi:type="dcterms:W3CDTF">2026-07-17T08:42:49.4640000Z</dcterms:modified>
</coreProperties>
</file>